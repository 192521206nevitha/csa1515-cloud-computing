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D81431-57A5-5A2D-E126-0B39327AC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626" y="381003"/>
            <a:ext cx="5132439" cy="609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9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1051560"/>
            <a:ext cx="1280160" cy="1280160"/>
          </a:xfrm>
          <a:prstGeom prst="ellipse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72600" y="685800"/>
            <a:ext cx="1645920" cy="1645920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1143000"/>
            <a:ext cx="1234440" cy="1234440"/>
          </a:xfrm>
          <a:prstGeom prst="ellipse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89720" y="1371600"/>
            <a:ext cx="1828800" cy="1828800"/>
          </a:xfrm>
          <a:prstGeom prst="ellipse">
            <a:avLst/>
          </a:prstGeom>
          <a:solidFill>
            <a:srgbClr val="467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7315200" cy="1463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"/>
              </a:rPr>
              <a:t>CLOUD STORAGE
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68580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300" b="0">
                <a:solidFill>
                  <a:srgbClr val="CAE1F2"/>
                </a:solidFill>
                <a:latin typeface="Aptos"/>
              </a:rPr>
              <a:t>Object, Block, and File Storage Compared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3703320"/>
            <a:ext cx="1005840" cy="73152"/>
          </a:xfrm>
          <a:prstGeom prst="rect">
            <a:avLst/>
          </a:prstGeom>
          <a:solidFill>
            <a:srgbClr val="F2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758952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ptos"/>
              </a:rPr>
              <a:t>Technical Presentation  |  Cloud Computing and Big Data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39946"/>
            <a:ext cx="5486400" cy="850939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>
                <a:solidFill>
                  <a:srgbClr val="CAE1F2"/>
                </a:solidFill>
                <a:latin typeface="Aptos"/>
              </a:rPr>
              <a:t>Presented by: </a:t>
            </a:r>
            <a:r>
              <a:rPr lang="en-IN" sz="1600" dirty="0">
                <a:solidFill>
                  <a:srgbClr val="CAE1F2"/>
                </a:solidFill>
                <a:latin typeface="Aptos"/>
              </a:rPr>
              <a:t>Nevitha M</a:t>
            </a:r>
          </a:p>
          <a:p>
            <a:pPr>
              <a:lnSpc>
                <a:spcPct val="150000"/>
              </a:lnSpc>
            </a:pPr>
            <a:r>
              <a:rPr lang="en-IN" sz="1600" b="0" dirty="0">
                <a:solidFill>
                  <a:srgbClr val="CAE1F2"/>
                </a:solidFill>
                <a:latin typeface="Aptos"/>
              </a:rPr>
              <a:t>R</a:t>
            </a:r>
            <a:r>
              <a:rPr lang="en-IN" sz="1600" dirty="0">
                <a:solidFill>
                  <a:srgbClr val="CAE1F2"/>
                </a:solidFill>
                <a:latin typeface="Aptos"/>
              </a:rPr>
              <a:t>eg No:192521206</a:t>
            </a:r>
            <a:endParaRPr sz="1600" b="0" dirty="0">
              <a:solidFill>
                <a:srgbClr val="CAE1F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71FBF7-7C5E-AC9B-C99F-C7414FEC670C}"/>
              </a:ext>
            </a:extLst>
          </p:cNvPr>
          <p:cNvSpPr txBox="1"/>
          <p:nvPr/>
        </p:nvSpPr>
        <p:spPr>
          <a:xfrm>
            <a:off x="6405303" y="5225230"/>
            <a:ext cx="2784417" cy="880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Guided by :Dr. Boomija M D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SIMATS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3000" b="1">
                <a:solidFill>
                  <a:srgbClr val="162D4E"/>
                </a:solidFill>
                <a:latin typeface="Aptos"/>
              </a:rPr>
              <a:t>1. What is Cloud Storage?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6400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64707D"/>
                </a:solidFill>
                <a:latin typeface="Aptos"/>
              </a:rPr>
              <a:t>Objective: understand the three common ways data is stored in the cloud.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1874519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" cy="1874519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475488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100" b="1">
                <a:solidFill>
                  <a:srgbClr val="162D4E"/>
                </a:solidFill>
                <a:latin typeface="Aptos"/>
              </a:rPr>
              <a:t>Simple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87168"/>
            <a:ext cx="4727448" cy="11247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800" b="0" dirty="0">
                <a:solidFill>
                  <a:srgbClr val="2A3441"/>
                </a:solidFill>
                <a:latin typeface="Aptos"/>
              </a:rPr>
              <a:t>Cloud storage keeps data on remote servers that we access through a network or the internet.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166360" cy="1874519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109728" cy="1874519"/>
          </a:xfrm>
          <a:prstGeom prst="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1993392"/>
            <a:ext cx="475488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100" b="1">
                <a:solidFill>
                  <a:srgbClr val="162D4E"/>
                </a:solidFill>
                <a:latin typeface="Aptos"/>
              </a:rPr>
              <a:t>Why do we use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487168"/>
            <a:ext cx="4727448" cy="11247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700" b="0">
                <a:solidFill>
                  <a:srgbClr val="2A3441"/>
                </a:solidFill>
                <a:latin typeface="Aptos"/>
              </a:rPr>
              <a:t>• Access data from different devices
• Scale storage when needed
• Reduce the need to manage physical disks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105156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200" b="1">
                <a:solidFill>
                  <a:srgbClr val="162D4E"/>
                </a:solidFill>
                <a:latin typeface="Aptos"/>
              </a:rPr>
              <a:t>Three main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800600"/>
            <a:ext cx="333756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4800600"/>
            <a:ext cx="109728" cy="105156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4965192"/>
            <a:ext cx="2926079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700" b="1">
                <a:solidFill>
                  <a:srgbClr val="162D4E"/>
                </a:solidFill>
                <a:latin typeface="Aptos"/>
              </a:rPr>
              <a:t>Object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5376672"/>
            <a:ext cx="2898648" cy="301751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 dirty="0">
                <a:solidFill>
                  <a:srgbClr val="2A3441"/>
                </a:solidFill>
                <a:latin typeface="Aptos"/>
              </a:rPr>
              <a:t>Best for photos, videos, backups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800600"/>
            <a:ext cx="333756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34840" y="4800600"/>
            <a:ext cx="109728" cy="1051560"/>
          </a:xfrm>
          <a:prstGeom prst="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90872" y="4965192"/>
            <a:ext cx="2926079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700" b="1">
                <a:solidFill>
                  <a:srgbClr val="162D4E"/>
                </a:solidFill>
                <a:latin typeface="Aptos"/>
              </a:rPr>
              <a:t>Block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5326380"/>
            <a:ext cx="2898648" cy="301751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 dirty="0">
                <a:solidFill>
                  <a:srgbClr val="2A3441"/>
                </a:solidFill>
                <a:latin typeface="Aptos"/>
              </a:rPr>
              <a:t>Best for databases and virtual machines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4800600"/>
            <a:ext cx="333756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01000" y="4800600"/>
            <a:ext cx="109728" cy="1051560"/>
          </a:xfrm>
          <a:prstGeom prst="rect">
            <a:avLst/>
          </a:prstGeom>
          <a:solidFill>
            <a:srgbClr val="F2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1" y="4965192"/>
            <a:ext cx="2926079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700" b="1">
                <a:solidFill>
                  <a:srgbClr val="162D4E"/>
                </a:solidFill>
                <a:latin typeface="Aptos"/>
              </a:rPr>
              <a:t>File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5294376"/>
            <a:ext cx="2898648" cy="301751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400" b="0" dirty="0">
                <a:solidFill>
                  <a:srgbClr val="2A3441"/>
                </a:solidFill>
                <a:latin typeface="Aptos"/>
              </a:rPr>
              <a:t>Best for shared folders and documents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0">
                <a:solidFill>
                  <a:srgbClr val="64707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3000" b="1">
                <a:solidFill>
                  <a:srgbClr val="162D4E"/>
                </a:solidFill>
                <a:latin typeface="Aptos"/>
              </a:rPr>
              <a:t>2. Object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6400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64707D"/>
                </a:solidFill>
                <a:latin typeface="Aptos"/>
              </a:rPr>
              <a:t>Stores each item as an object with data, metadata, and a unique 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" cy="338328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41605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200" b="1">
                <a:solidFill>
                  <a:srgbClr val="162D4E"/>
                </a:solidFill>
                <a:latin typeface="Aptos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87168"/>
            <a:ext cx="4133087" cy="2633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A3441"/>
                </a:solidFill>
                <a:latin typeface="Aptos"/>
              </a:rPr>
              <a:t>• Data is stored as separate objects
• Each object has details (metadata)
• Objects are accessed using a unique key
• Works well for very large amounts of unstructured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828800"/>
            <a:ext cx="53035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900" b="1">
                <a:solidFill>
                  <a:srgbClr val="162D4E"/>
                </a:solidFill>
                <a:latin typeface="Aptos"/>
              </a:rPr>
              <a:t>Simple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68880"/>
            <a:ext cx="1920240" cy="594360"/>
          </a:xfrm>
          <a:prstGeom prst="roundRect">
            <a:avLst/>
          </a:prstGeom>
          <a:solidFill>
            <a:srgbClr val="EFF5FA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8" y="2514600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500" b="1">
                <a:solidFill>
                  <a:srgbClr val="162D4E"/>
                </a:solidFill>
                <a:latin typeface="Aptos"/>
              </a:rPr>
              <a:t>photo.jpg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770632"/>
            <a:ext cx="1691640" cy="20116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64707D"/>
                </a:solidFill>
                <a:latin typeface="Aptos"/>
              </a:rPr>
              <a:t>image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2761488"/>
            <a:ext cx="548640" cy="0"/>
          </a:xfrm>
          <a:prstGeom prst="line">
            <a:avLst/>
          </a:prstGeom>
          <a:ln w="25400">
            <a:solidFill>
              <a:srgbClr val="23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6480" y="3337560"/>
            <a:ext cx="1920240" cy="594360"/>
          </a:xfrm>
          <a:prstGeom prst="roundRect">
            <a:avLst/>
          </a:prstGeom>
          <a:solidFill>
            <a:srgbClr val="EFF5FA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8" y="3383280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500" b="1">
                <a:solidFill>
                  <a:srgbClr val="162D4E"/>
                </a:solidFill>
                <a:latin typeface="Aptos"/>
              </a:rPr>
              <a:t>video.mp4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3639312"/>
            <a:ext cx="1691640" cy="20116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64707D"/>
                </a:solidFill>
                <a:latin typeface="Aptos"/>
              </a:rPr>
              <a:t>video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92440" y="3630168"/>
            <a:ext cx="548640" cy="0"/>
          </a:xfrm>
          <a:prstGeom prst="line">
            <a:avLst/>
          </a:prstGeom>
          <a:ln w="25400">
            <a:solidFill>
              <a:srgbClr val="23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26480" y="4206240"/>
            <a:ext cx="1920240" cy="594360"/>
          </a:xfrm>
          <a:prstGeom prst="roundRect">
            <a:avLst/>
          </a:prstGeom>
          <a:solidFill>
            <a:srgbClr val="EFF5FA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8" y="4251959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500" b="1">
                <a:solidFill>
                  <a:srgbClr val="162D4E"/>
                </a:solidFill>
                <a:latin typeface="Aptos"/>
              </a:rPr>
              <a:t>backup.zip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4507992"/>
            <a:ext cx="1691640" cy="20116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64707D"/>
                </a:solidFill>
                <a:latin typeface="Aptos"/>
              </a:rPr>
              <a:t>backup data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92440" y="4498848"/>
            <a:ext cx="548640" cy="0"/>
          </a:xfrm>
          <a:prstGeom prst="line">
            <a:avLst/>
          </a:prstGeom>
          <a:ln w="25400">
            <a:solidFill>
              <a:srgbClr val="23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86800" y="2926080"/>
            <a:ext cx="2240280" cy="1143000"/>
          </a:xfrm>
          <a:prstGeom prst="roundRect">
            <a:avLst/>
          </a:prstGeom>
          <a:solidFill>
            <a:srgbClr val="DEF3F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51392" y="3182112"/>
            <a:ext cx="192024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700" b="1">
                <a:solidFill>
                  <a:srgbClr val="162D4E"/>
                </a:solidFill>
                <a:latin typeface="Aptos"/>
              </a:rPr>
              <a:t>OBJECT
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5303520"/>
            <a:ext cx="52120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0">
                <a:solidFill>
                  <a:srgbClr val="64707D"/>
                </a:solidFill>
                <a:latin typeface="Aptos"/>
              </a:rPr>
              <a:t>Example: storing photos in an online photo service.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0">
                <a:solidFill>
                  <a:srgbClr val="64707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3000" b="1">
                <a:solidFill>
                  <a:srgbClr val="162D4E"/>
                </a:solidFill>
                <a:latin typeface="Aptos"/>
              </a:rPr>
              <a:t>3. Block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6400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64707D"/>
                </a:solidFill>
                <a:latin typeface="Aptos"/>
              </a:rPr>
              <a:t>Splits data into fixed-size blocks that can be managed separately.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" cy="3383280"/>
          </a:xfrm>
          <a:prstGeom prst="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41605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200" b="1">
                <a:solidFill>
                  <a:srgbClr val="162D4E"/>
                </a:solidFill>
                <a:latin typeface="Aptos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87168"/>
            <a:ext cx="4133087" cy="17697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A3441"/>
                </a:solidFill>
                <a:latin typeface="Aptos"/>
              </a:rPr>
              <a:t>• Data is divided into blocks
• Blocks can be read or updated quickly
• Often attached to a virtual server
• Useful when performance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828800"/>
            <a:ext cx="53035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900" b="1">
                <a:solidFill>
                  <a:srgbClr val="162D4E"/>
                </a:solidFill>
                <a:latin typeface="Aptos"/>
              </a:rPr>
              <a:t>Think of a disk divided into blocks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514600"/>
            <a:ext cx="960120" cy="566928"/>
          </a:xfrm>
          <a:prstGeom prst="rect">
            <a:avLst/>
          </a:prstGeom>
          <a:solidFill>
            <a:srgbClr val="EFF5FA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262432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514600"/>
            <a:ext cx="960120" cy="566928"/>
          </a:xfrm>
          <a:prstGeom prst="rect">
            <a:avLst/>
          </a:prstGeom>
          <a:solidFill>
            <a:srgbClr val="DEF3F1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262432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514600"/>
            <a:ext cx="960120" cy="566928"/>
          </a:xfrm>
          <a:prstGeom prst="rect">
            <a:avLst/>
          </a:prstGeom>
          <a:solidFill>
            <a:srgbClr val="E1EBF9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62432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2514600"/>
            <a:ext cx="960120" cy="566928"/>
          </a:xfrm>
          <a:prstGeom prst="rect">
            <a:avLst/>
          </a:prstGeom>
          <a:solidFill>
            <a:srgbClr val="EFF5FA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55480" y="262432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291840"/>
            <a:ext cx="960120" cy="566928"/>
          </a:xfrm>
          <a:prstGeom prst="rect">
            <a:avLst/>
          </a:prstGeom>
          <a:solidFill>
            <a:srgbClr val="DEF3F1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340156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3291840"/>
            <a:ext cx="960120" cy="566928"/>
          </a:xfrm>
          <a:prstGeom prst="rect">
            <a:avLst/>
          </a:prstGeom>
          <a:solidFill>
            <a:srgbClr val="E1EBF9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9480" y="340156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3291840"/>
            <a:ext cx="960120" cy="566928"/>
          </a:xfrm>
          <a:prstGeom prst="rect">
            <a:avLst/>
          </a:prstGeom>
          <a:solidFill>
            <a:srgbClr val="EFF5FA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340156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3291840"/>
            <a:ext cx="960120" cy="566928"/>
          </a:xfrm>
          <a:prstGeom prst="rect">
            <a:avLst/>
          </a:prstGeom>
          <a:solidFill>
            <a:srgbClr val="DEF3F1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55480" y="340156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4069080"/>
            <a:ext cx="960120" cy="566928"/>
          </a:xfrm>
          <a:prstGeom prst="rect">
            <a:avLst/>
          </a:prstGeom>
          <a:solidFill>
            <a:srgbClr val="E1EBF9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417880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4069080"/>
            <a:ext cx="960120" cy="566928"/>
          </a:xfrm>
          <a:prstGeom prst="rect">
            <a:avLst/>
          </a:prstGeom>
          <a:solidFill>
            <a:srgbClr val="EFF5FA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69480" y="417880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4069080"/>
            <a:ext cx="960120" cy="566928"/>
          </a:xfrm>
          <a:prstGeom prst="rect">
            <a:avLst/>
          </a:prstGeom>
          <a:solidFill>
            <a:srgbClr val="DEF3F1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417880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4069080"/>
            <a:ext cx="960120" cy="566928"/>
          </a:xfrm>
          <a:prstGeom prst="rect">
            <a:avLst/>
          </a:prstGeom>
          <a:solidFill>
            <a:srgbClr val="E1EBF9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55480" y="4178808"/>
            <a:ext cx="86868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100" b="1">
                <a:solidFill>
                  <a:srgbClr val="162D4E"/>
                </a:solidFill>
                <a:latin typeface="Aptos"/>
              </a:rPr>
              <a:t>Block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5074920"/>
            <a:ext cx="530352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0">
                <a:solidFill>
                  <a:srgbClr val="64707D"/>
                </a:solidFill>
                <a:latin typeface="Aptos"/>
              </a:rPr>
              <a:t>Example: the disk used by a cloud virtual machine or database.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0">
                <a:solidFill>
                  <a:srgbClr val="64707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3000" b="1">
                <a:solidFill>
                  <a:srgbClr val="162D4E"/>
                </a:solidFill>
                <a:latin typeface="Aptos"/>
              </a:rPr>
              <a:t>4. File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6400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64707D"/>
                </a:solidFill>
                <a:latin typeface="Aptos"/>
              </a:rPr>
              <a:t>Organizes data into folders and files, just like a computer.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0" cy="338328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" cy="3383280"/>
          </a:xfrm>
          <a:prstGeom prst="rect">
            <a:avLst/>
          </a:prstGeom>
          <a:solidFill>
            <a:srgbClr val="F2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41605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200" b="1">
                <a:solidFill>
                  <a:srgbClr val="162D4E"/>
                </a:solidFill>
                <a:latin typeface="Aptos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87168"/>
            <a:ext cx="4133087" cy="17697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50000"/>
              </a:lnSpc>
            </a:pPr>
            <a:r>
              <a:rPr sz="1800" b="0" dirty="0">
                <a:solidFill>
                  <a:srgbClr val="2A3441"/>
                </a:solidFill>
                <a:latin typeface="Aptos"/>
              </a:rPr>
              <a:t>• Files are stored in folders
• Users browse by file and folder names
• Multiple users can share the same files
• Familiar and easy to 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828800"/>
            <a:ext cx="53035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900" b="1">
                <a:solidFill>
                  <a:srgbClr val="162D4E"/>
                </a:solidFill>
                <a:latin typeface="Aptos"/>
              </a:rPr>
              <a:t>Example folder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43891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000" b="1">
                <a:solidFill>
                  <a:srgbClr val="162D4E"/>
                </a:solidFill>
                <a:latin typeface="Aptos"/>
              </a:rPr>
              <a:t>📁 Class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154680"/>
            <a:ext cx="384048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700" b="0">
                <a:solidFill>
                  <a:srgbClr val="2A3441"/>
                </a:solidFill>
                <a:latin typeface="Aptos"/>
              </a:rPr>
              <a:t>📁 Presentations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703320"/>
            <a:ext cx="338328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64707D"/>
                </a:solidFill>
                <a:latin typeface="Aptos"/>
              </a:rPr>
              <a:t>📄 Cloud-Storage.pptx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343400"/>
            <a:ext cx="384048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700" b="0">
                <a:solidFill>
                  <a:srgbClr val="2A3441"/>
                </a:solidFill>
                <a:latin typeface="Aptos"/>
              </a:rPr>
              <a:t>📁 Assignments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892040"/>
            <a:ext cx="338328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64707D"/>
                </a:solidFill>
                <a:latin typeface="Aptos"/>
              </a:rPr>
              <a:t>📄 Homework.docx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46520" y="2834640"/>
            <a:ext cx="274320" cy="0"/>
          </a:xfrm>
          <a:prstGeom prst="line">
            <a:avLst/>
          </a:prstGeom>
          <a:ln w="190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20840" y="2834640"/>
            <a:ext cx="0" cy="1691640"/>
          </a:xfrm>
          <a:prstGeom prst="line">
            <a:avLst/>
          </a:prstGeom>
          <a:ln w="190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20840" y="3291840"/>
            <a:ext cx="91440" cy="0"/>
          </a:xfrm>
          <a:prstGeom prst="line">
            <a:avLst/>
          </a:prstGeom>
          <a:ln w="190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20840" y="4480560"/>
            <a:ext cx="91440" cy="0"/>
          </a:xfrm>
          <a:prstGeom prst="line">
            <a:avLst/>
          </a:prstGeom>
          <a:ln w="190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86600" y="3840480"/>
            <a:ext cx="274320" cy="0"/>
          </a:xfrm>
          <a:prstGeom prst="line">
            <a:avLst/>
          </a:prstGeom>
          <a:ln w="190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86600" y="5029200"/>
            <a:ext cx="274320" cy="0"/>
          </a:xfrm>
          <a:prstGeom prst="line">
            <a:avLst/>
          </a:prstGeom>
          <a:ln w="190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0">
                <a:solidFill>
                  <a:srgbClr val="64707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3000" b="1">
                <a:solidFill>
                  <a:srgbClr val="162D4E"/>
                </a:solidFill>
                <a:latin typeface="Aptos"/>
              </a:rPr>
              <a:t>5. Quick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6400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64707D"/>
                </a:solidFill>
                <a:latin typeface="Aptos"/>
              </a:rPr>
              <a:t>Choose the storage type based on how the data will be used.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37560" cy="3337560"/>
          </a:xfrm>
          <a:prstGeom prst="roundRect">
            <a:avLst/>
          </a:prstGeom>
          <a:solidFill>
            <a:srgbClr val="EFF5FA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337560" cy="530352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039112"/>
            <a:ext cx="3118104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24912"/>
            <a:ext cx="2880360" cy="195893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>
                <a:solidFill>
                  <a:srgbClr val="2A3441"/>
                </a:solidFill>
                <a:latin typeface="Aptos"/>
              </a:rPr>
              <a:t>Data format: objects
Best for: photos, videos, backups
Main strength: handles huge data collections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65960"/>
            <a:ext cx="3337560" cy="3337560"/>
          </a:xfrm>
          <a:prstGeom prst="roundRect">
            <a:avLst/>
          </a:prstGeom>
          <a:solidFill>
            <a:srgbClr val="EFF5FA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1965960"/>
            <a:ext cx="3337560" cy="530352"/>
          </a:xfrm>
          <a:prstGeom prst="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2039112"/>
            <a:ext cx="3118104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24912"/>
            <a:ext cx="2880360" cy="195893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>
                <a:solidFill>
                  <a:srgbClr val="2A3441"/>
                </a:solidFill>
                <a:latin typeface="Aptos"/>
              </a:rPr>
              <a:t>Data format: blocks
Best for: databases, virtual machines
Main strength: fast, low-latency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965960"/>
            <a:ext cx="3337560" cy="3337560"/>
          </a:xfrm>
          <a:prstGeom prst="roundRect">
            <a:avLst/>
          </a:prstGeom>
          <a:solidFill>
            <a:srgbClr val="EFF5FA"/>
          </a:solidFill>
          <a:ln>
            <a:solidFill>
              <a:srgbClr val="F2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965960"/>
            <a:ext cx="3337560" cy="530352"/>
          </a:xfrm>
          <a:prstGeom prst="rect">
            <a:avLst/>
          </a:prstGeom>
          <a:solidFill>
            <a:srgbClr val="F2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7" y="2039112"/>
            <a:ext cx="3118104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24912"/>
            <a:ext cx="2880360" cy="195893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>
                <a:solidFill>
                  <a:srgbClr val="2A3441"/>
                </a:solidFill>
                <a:latin typeface="Aptos"/>
              </a:rPr>
              <a:t>Data format: files and folders
Best for: shared folders, team documents
Main strength: simple organization and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900" b="1">
                <a:solidFill>
                  <a:srgbClr val="162D4E"/>
                </a:solidFill>
                <a:latin typeface="Aptos"/>
              </a:rPr>
              <a:t>Remember: Object = items  |  Block = performance  |  File = folders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0">
                <a:solidFill>
                  <a:srgbClr val="64707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3000" b="1">
                <a:solidFill>
                  <a:srgbClr val="162D4E"/>
                </a:solidFill>
                <a:latin typeface="Aptos"/>
              </a:rPr>
              <a:t>6. Basic Cloud Storage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6400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64707D"/>
                </a:solidFill>
                <a:latin typeface="Aptos"/>
              </a:rPr>
              <a:t>A simple view of how a user stores and retrieves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21488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542032"/>
            <a:ext cx="192024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239691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816352"/>
            <a:ext cx="19202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700" b="1">
                <a:solidFill>
                  <a:srgbClr val="162D4E"/>
                </a:solidFill>
                <a:latin typeface="Aptos"/>
              </a:rPr>
              <a:t>User /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200400"/>
            <a:ext cx="19202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64707D"/>
                </a:solidFill>
                <a:latin typeface="Aptos"/>
              </a:rPr>
              <a:t>Phone or computer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62072" y="3127248"/>
            <a:ext cx="630936" cy="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423160"/>
            <a:ext cx="2148840" cy="1417320"/>
          </a:xfrm>
          <a:prstGeom prst="roundRect">
            <a:avLst/>
          </a:prstGeom>
          <a:solidFill>
            <a:srgbClr val="DEF3F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2542032"/>
            <a:ext cx="192024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239691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816352"/>
            <a:ext cx="19202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700" b="1">
                <a:solidFill>
                  <a:srgbClr val="162D4E"/>
                </a:solidFill>
                <a:latin typeface="Aptos"/>
              </a:rPr>
              <a:t>Internet /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3200400"/>
            <a:ext cx="19202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64707D"/>
                </a:solidFill>
                <a:latin typeface="Aptos"/>
              </a:rPr>
              <a:t>Sends a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42431" y="3127248"/>
            <a:ext cx="630937" cy="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46520" y="2423160"/>
            <a:ext cx="2148840" cy="1417320"/>
          </a:xfrm>
          <a:prstGeom prst="roundRect">
            <a:avLst/>
          </a:prstGeom>
          <a:solidFill>
            <a:srgbClr val="E1EBF9"/>
          </a:solidFill>
          <a:ln>
            <a:solidFill>
              <a:srgbClr val="30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6248" y="2542032"/>
            <a:ext cx="192024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306EB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816352"/>
            <a:ext cx="19202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700" b="1">
                <a:solidFill>
                  <a:srgbClr val="162D4E"/>
                </a:solidFill>
                <a:latin typeface="Aptos"/>
              </a:rPr>
              <a:t>Cloud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3200400"/>
            <a:ext cx="19202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64707D"/>
                </a:solidFill>
                <a:latin typeface="Aptos"/>
              </a:rPr>
              <a:t>Stores or finds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22792" y="3127248"/>
            <a:ext cx="630936" cy="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26880" y="2423160"/>
            <a:ext cx="2148840" cy="1417320"/>
          </a:xfrm>
          <a:prstGeom prst="roundRect">
            <a:avLst/>
          </a:prstGeom>
          <a:solidFill>
            <a:srgbClr val="FFF4DC"/>
          </a:solidFill>
          <a:ln>
            <a:solidFill>
              <a:srgbClr val="F2B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36607" y="2542032"/>
            <a:ext cx="192024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A06E14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7" y="2816352"/>
            <a:ext cx="19202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700" b="1">
                <a:solidFill>
                  <a:srgbClr val="162D4E"/>
                </a:solidFill>
                <a:latin typeface="Aptos"/>
              </a:rPr>
              <a:t>Data Returned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7" y="3200400"/>
            <a:ext cx="192024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64707D"/>
                </a:solidFill>
                <a:latin typeface="Aptos"/>
              </a:rPr>
              <a:t>File or result sent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72000"/>
            <a:ext cx="103327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572000"/>
            <a:ext cx="109728" cy="9601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0432" y="4736592"/>
            <a:ext cx="992124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800" b="1">
                <a:solidFill>
                  <a:srgbClr val="162D4E"/>
                </a:solidFill>
                <a:latin typeface="Aptos"/>
              </a:rPr>
              <a:t>Practical 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230368"/>
            <a:ext cx="9893808" cy="2103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600" b="0">
                <a:solidFill>
                  <a:srgbClr val="2A3441"/>
                </a:solidFill>
                <a:latin typeface="Aptos"/>
              </a:rPr>
              <a:t>A student uploads a presentation to cloud storage, then opens it later from another device.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0">
                <a:solidFill>
                  <a:srgbClr val="64707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3000" b="1">
                <a:solidFill>
                  <a:srgbClr val="162D4E"/>
                </a:solidFill>
                <a:latin typeface="Aptos"/>
              </a:rPr>
              <a:t>7. Industry 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64008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728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64707D"/>
                </a:solidFill>
                <a:latin typeface="Aptos"/>
              </a:rPr>
              <a:t>Cloud storage supports many everyday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8328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993392"/>
            <a:ext cx="297180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900" b="1">
                <a:solidFill>
                  <a:srgbClr val="162D4E"/>
                </a:solidFill>
                <a:latin typeface="Aptos"/>
              </a:rPr>
              <a:t>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87168"/>
            <a:ext cx="2944368" cy="6675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2A3441"/>
                </a:solidFill>
                <a:latin typeface="Aptos"/>
              </a:rPr>
              <a:t>Sharing notes, assignments, and lecture recordings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8328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109728" cy="1417320"/>
          </a:xfrm>
          <a:prstGeom prst="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993392"/>
            <a:ext cx="297180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900" b="1">
                <a:solidFill>
                  <a:srgbClr val="162D4E"/>
                </a:solidFill>
                <a:latin typeface="Aptos"/>
              </a:rPr>
              <a:t>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2944368" cy="6675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2A3441"/>
                </a:solidFill>
                <a:latin typeface="Aptos"/>
              </a:rPr>
              <a:t>Keeping and sharing medical images and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38328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109728" cy="1417320"/>
          </a:xfrm>
          <a:prstGeom prst="rect">
            <a:avLst/>
          </a:prstGeom>
          <a:solidFill>
            <a:srgbClr val="F2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1993392"/>
            <a:ext cx="297180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900" b="1">
                <a:solidFill>
                  <a:srgbClr val="162D4E"/>
                </a:solidFill>
                <a:latin typeface="Aptos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487168"/>
            <a:ext cx="2944368" cy="6675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500" b="0">
                <a:solidFill>
                  <a:srgbClr val="2A3441"/>
                </a:solidFill>
                <a:latin typeface="Aptos"/>
              </a:rPr>
              <a:t>Backing up files and supporting team 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1060704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100" b="1">
                <a:solidFill>
                  <a:srgbClr val="162D4E"/>
                </a:solidFill>
                <a:latin typeface="Aptos"/>
              </a:rPr>
              <a:t>Key benefits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581144"/>
            <a:ext cx="118872" cy="118872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61288" y="4434840"/>
            <a:ext cx="4782312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800" b="0">
                <a:solidFill>
                  <a:srgbClr val="2A3441"/>
                </a:solidFill>
                <a:latin typeface="Aptos"/>
              </a:rPr>
              <a:t>Access from many locations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581144"/>
            <a:ext cx="118872" cy="118872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47688" y="4434840"/>
            <a:ext cx="4782312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800" b="0">
                <a:solidFill>
                  <a:srgbClr val="2A3441"/>
                </a:solidFill>
                <a:latin typeface="Aptos"/>
              </a:rPr>
              <a:t>Scale up or down as needed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266944"/>
            <a:ext cx="118872" cy="118872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61288" y="5120640"/>
            <a:ext cx="4782312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800" b="0">
                <a:solidFill>
                  <a:srgbClr val="2A3441"/>
                </a:solidFill>
                <a:latin typeface="Aptos"/>
              </a:rPr>
              <a:t>Support backup and recovery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5266944"/>
            <a:ext cx="118872" cy="118872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47688" y="5120640"/>
            <a:ext cx="4782312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800" b="0">
                <a:solidFill>
                  <a:srgbClr val="2A3441"/>
                </a:solidFill>
                <a:latin typeface="Aptos"/>
              </a:rPr>
              <a:t>Reduce local hardware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37376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0">
                <a:solidFill>
                  <a:srgbClr val="64707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25880"/>
            <a:ext cx="914400" cy="73152"/>
          </a:xfrm>
          <a:prstGeom prst="rect">
            <a:avLst/>
          </a:prstGeom>
          <a:solidFill>
            <a:srgbClr val="F2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14984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400" b="1">
                <a:solidFill>
                  <a:srgbClr val="CAE1F2"/>
                </a:solidFill>
                <a:latin typeface="Aptos"/>
              </a:rPr>
              <a:t>Three storage types — three different purposes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15468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109728" cy="1417320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2907792"/>
            <a:ext cx="274320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900" b="1">
                <a:solidFill>
                  <a:srgbClr val="162D4E"/>
                </a:solidFill>
                <a:latin typeface="Aptos"/>
              </a:rPr>
              <a:t>OBJECT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401568"/>
            <a:ext cx="2715768" cy="6675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700" b="0">
                <a:solidFill>
                  <a:srgbClr val="2A3441"/>
                </a:solidFill>
                <a:latin typeface="Aptos"/>
              </a:rPr>
              <a:t>Photos, videos, backups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743200"/>
            <a:ext cx="315468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2743200"/>
            <a:ext cx="109728" cy="1417320"/>
          </a:xfrm>
          <a:prstGeom prst="rect">
            <a:avLst/>
          </a:prstGeom>
          <a:solidFill>
            <a:srgbClr val="30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2907792"/>
            <a:ext cx="274320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900" b="1">
                <a:solidFill>
                  <a:srgbClr val="162D4E"/>
                </a:solidFill>
                <a:latin typeface="Aptos"/>
              </a:rPr>
              <a:t>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401568"/>
            <a:ext cx="2715768" cy="6675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700" b="0">
                <a:solidFill>
                  <a:srgbClr val="2A3441"/>
                </a:solidFill>
                <a:latin typeface="Aptos"/>
              </a:rPr>
              <a:t>Databases, virtual machines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15468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2743200"/>
            <a:ext cx="109728" cy="1417320"/>
          </a:xfrm>
          <a:prstGeom prst="rect">
            <a:avLst/>
          </a:prstGeom>
          <a:solidFill>
            <a:srgbClr val="F2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2907792"/>
            <a:ext cx="274320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900" b="1">
                <a:solidFill>
                  <a:srgbClr val="162D4E"/>
                </a:solidFill>
                <a:latin typeface="Aptos"/>
              </a:rPr>
              <a:t>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401568"/>
            <a:ext cx="2715768" cy="6675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700" b="0">
                <a:solidFill>
                  <a:srgbClr val="2A3441"/>
                </a:solidFill>
                <a:latin typeface="Aptos"/>
              </a:rPr>
              <a:t>Folders, shared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00600"/>
            <a:ext cx="10149840" cy="6400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1900" b="0">
                <a:solidFill>
                  <a:srgbClr val="FFFFFF"/>
                </a:solidFill>
                <a:latin typeface="Aptos"/>
              </a:rPr>
              <a:t>Key takeaway: choose storage based on the data format, speed needs, and how people access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06440"/>
            <a:ext cx="96012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r>
              <a:rPr sz="2000" b="1">
                <a:solidFill>
                  <a:srgbClr val="CAE1F2"/>
                </a:solidFill>
                <a:latin typeface="Aptos"/>
              </a:rPr>
              <a:t>Thank you!  •  Any 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662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nevitha magendiran</cp:lastModifiedBy>
  <cp:revision>8</cp:revision>
  <dcterms:created xsi:type="dcterms:W3CDTF">2013-01-27T09:14:16Z</dcterms:created>
  <dcterms:modified xsi:type="dcterms:W3CDTF">2026-10-15T06:59:45Z</dcterms:modified>
  <cp:category/>
</cp:coreProperties>
</file>